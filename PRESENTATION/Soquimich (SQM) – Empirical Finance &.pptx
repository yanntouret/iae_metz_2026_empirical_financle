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5" r:id="rId6"/>
    <p:sldId id="264" r:id="rId7"/>
    <p:sldId id="266" r:id="rId8"/>
    <p:sldId id="262" r:id="rId9"/>
    <p:sldId id="263" r:id="rId10"/>
    <p:sldId id="261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7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0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85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5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0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6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8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80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73C68B-51DC-3C4B-F73B-F449BE23C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Soquimich</a:t>
            </a:r>
            <a:r>
              <a:rPr lang="fr-FR" dirty="0"/>
              <a:t> (SQM) – </a:t>
            </a:r>
            <a:r>
              <a:rPr lang="fr-FR" dirty="0" err="1"/>
              <a:t>Empirical</a:t>
            </a:r>
            <a:r>
              <a:rPr lang="fr-FR" dirty="0"/>
              <a:t> Finance &amp; Valuation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502E69-06C0-4D02-DD6E-ABB65038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fr-FR" dirty="0"/>
              <a:t>Yann touret M2 Finance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onception abstraite de pétales de fleurs en pastel">
            <a:extLst>
              <a:ext uri="{FF2B5EF4-FFF2-40B4-BE49-F238E27FC236}">
                <a16:creationId xmlns:a16="http://schemas.microsoft.com/office/drawing/2014/main" id="{2DBAE9B2-4DF3-EFAC-7633-B4D7F958F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16" r="12566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12256-435E-9387-B7F7-6C6C5260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E9A07C-E633-7EEB-70D6-5A94325B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fr-FR" dirty="0"/>
              <a:t>Enterprise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9EBAE0-9157-9745-8AB8-2DD24CA80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 lnSpcReduction="10000"/>
          </a:bodyPr>
          <a:lstStyle/>
          <a:p>
            <a:r>
              <a:rPr lang="fr-FR" dirty="0"/>
              <a:t>25% of the lithium </a:t>
            </a:r>
            <a:r>
              <a:rPr lang="fr-FR" dirty="0" err="1"/>
              <a:t>mining</a:t>
            </a:r>
            <a:r>
              <a:rPr lang="fr-FR" dirty="0"/>
              <a:t> </a:t>
            </a:r>
            <a:r>
              <a:rPr lang="fr-FR" dirty="0" err="1"/>
              <a:t>market</a:t>
            </a:r>
            <a:r>
              <a:rPr lang="fr-FR" dirty="0"/>
              <a:t> and </a:t>
            </a:r>
            <a:r>
              <a:rPr lang="fr-FR" dirty="0" err="1"/>
              <a:t>also</a:t>
            </a:r>
            <a:r>
              <a:rPr lang="fr-FR" dirty="0"/>
              <a:t> do </a:t>
            </a:r>
            <a:r>
              <a:rPr lang="fr-FR" dirty="0" err="1"/>
              <a:t>fertilizants</a:t>
            </a:r>
            <a:r>
              <a:rPr lang="fr-FR" dirty="0"/>
              <a:t> (27% of sales) </a:t>
            </a:r>
          </a:p>
          <a:p>
            <a:endParaRPr lang="fr-FR" dirty="0"/>
          </a:p>
          <a:p>
            <a:r>
              <a:rPr lang="fr-FR" dirty="0"/>
              <a:t>20B </a:t>
            </a:r>
            <a:r>
              <a:rPr lang="fr-FR" dirty="0" err="1"/>
              <a:t>usd</a:t>
            </a:r>
            <a:r>
              <a:rPr lang="fr-FR" dirty="0"/>
              <a:t> </a:t>
            </a:r>
            <a:r>
              <a:rPr lang="fr-FR" dirty="0" err="1"/>
              <a:t>company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competitors</a:t>
            </a:r>
            <a:r>
              <a:rPr lang="fr-FR" dirty="0"/>
              <a:t> like </a:t>
            </a:r>
            <a:r>
              <a:rPr lang="fr-FR" dirty="0" err="1"/>
              <a:t>albemarle,and</a:t>
            </a:r>
            <a:r>
              <a:rPr lang="fr-FR" dirty="0"/>
              <a:t> the </a:t>
            </a:r>
            <a:r>
              <a:rPr lang="fr-FR" dirty="0" err="1"/>
              <a:t>chinese</a:t>
            </a:r>
            <a:r>
              <a:rPr lang="fr-FR" dirty="0"/>
              <a:t> </a:t>
            </a:r>
            <a:r>
              <a:rPr lang="fr-FR" dirty="0" err="1"/>
              <a:t>tianqi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Contracts</a:t>
            </a:r>
            <a:r>
              <a:rPr lang="fr-FR" dirty="0"/>
              <a:t> all over the world 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in </a:t>
            </a:r>
            <a:r>
              <a:rPr lang="fr-FR" dirty="0" err="1"/>
              <a:t>australia</a:t>
            </a:r>
            <a:r>
              <a:rPr lang="fr-FR" dirty="0"/>
              <a:t>, china and Chile</a:t>
            </a:r>
          </a:p>
          <a:p>
            <a:endParaRPr lang="fr-FR" dirty="0"/>
          </a:p>
          <a:p>
            <a:r>
              <a:rPr lang="fr-FR" dirty="0" err="1"/>
              <a:t>They</a:t>
            </a:r>
            <a:r>
              <a:rPr lang="fr-FR" dirty="0"/>
              <a:t> are in the NYSE and are </a:t>
            </a:r>
            <a:r>
              <a:rPr lang="fr-FR" dirty="0" err="1"/>
              <a:t>quoted</a:t>
            </a:r>
            <a:r>
              <a:rPr lang="fr-FR" dirty="0"/>
              <a:t> in </a:t>
            </a:r>
            <a:r>
              <a:rPr lang="fr-FR" dirty="0" err="1"/>
              <a:t>usd</a:t>
            </a:r>
            <a:endParaRPr lang="fr-FR" dirty="0"/>
          </a:p>
          <a:p>
            <a:endParaRPr lang="fr-FR" dirty="0"/>
          </a:p>
        </p:txBody>
      </p:sp>
      <p:pic>
        <p:nvPicPr>
          <p:cNvPr id="1026" name="Picture 2" descr="Sociedad Química y Minera - Wikipedia">
            <a:extLst>
              <a:ext uri="{FF2B5EF4-FFF2-40B4-BE49-F238E27FC236}">
                <a16:creationId xmlns:a16="http://schemas.microsoft.com/office/drawing/2014/main" id="{25C8494F-1FC4-CD39-DC3D-26A188B33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74560" y="1951854"/>
            <a:ext cx="4202057" cy="420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24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C46708-3C71-C9AE-6C89-EDBBB3C2D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fr-FR" dirty="0"/>
              <a:t>Objective of the </a:t>
            </a:r>
            <a:r>
              <a:rPr lang="fr-FR"/>
              <a:t>research</a:t>
            </a:r>
            <a:endParaRPr lang="fr-FR" dirty="0"/>
          </a:p>
        </p:txBody>
      </p:sp>
      <p:pic>
        <p:nvPicPr>
          <p:cNvPr id="2050" name="Picture 2" descr="Tianqi espera vender su participación en la mina de litio más grande del  mundo - Reporte Minero | El portal de minería en Chile">
            <a:extLst>
              <a:ext uri="{FF2B5EF4-FFF2-40B4-BE49-F238E27FC236}">
                <a16:creationId xmlns:a16="http://schemas.microsoft.com/office/drawing/2014/main" id="{9B48D798-884F-B66E-8801-BA82A212F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92" r="9905" b="1"/>
          <a:stretch>
            <a:fillRect/>
          </a:stretch>
        </p:blipFill>
        <p:spPr bwMode="auto">
          <a:xfrm>
            <a:off x="20" y="-17929"/>
            <a:ext cx="420622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7E9E8-8CC2-4F18-553C-AC879BFA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dirty="0" err="1"/>
              <a:t>What</a:t>
            </a:r>
            <a:r>
              <a:rPr lang="fr-FR" dirty="0"/>
              <a:t> drives SQM </a:t>
            </a:r>
            <a:r>
              <a:rPr lang="fr-FR" dirty="0" err="1"/>
              <a:t>returns</a:t>
            </a:r>
            <a:r>
              <a:rPr lang="fr-FR" dirty="0"/>
              <a:t>?</a:t>
            </a:r>
            <a:r>
              <a:rPr lang="en-US" dirty="0"/>
              <a:t> What is a reasonable value per share?</a:t>
            </a:r>
          </a:p>
          <a:p>
            <a:pPr marL="457200" indent="-457200">
              <a:buFont typeface="+mj-lt"/>
              <a:buAutoNum type="arabicPeriod"/>
            </a:pPr>
            <a:endParaRPr lang="fr-FR" dirty="0"/>
          </a:p>
          <a:p>
            <a:r>
              <a:rPr lang="fr-FR" dirty="0" err="1"/>
              <a:t>Market</a:t>
            </a:r>
            <a:r>
              <a:rPr lang="fr-FR" dirty="0"/>
              <a:t> ( SP500)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Industry</a:t>
            </a:r>
            <a:r>
              <a:rPr lang="fr-FR" dirty="0"/>
              <a:t> </a:t>
            </a:r>
            <a:r>
              <a:rPr lang="fr-FR" dirty="0" err="1"/>
              <a:t>risks</a:t>
            </a:r>
            <a:r>
              <a:rPr lang="fr-FR" dirty="0"/>
              <a:t> (ETF lithium LIT)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Lithium </a:t>
            </a:r>
            <a:r>
              <a:rPr lang="fr-FR" dirty="0" err="1"/>
              <a:t>commodity</a:t>
            </a:r>
            <a:r>
              <a:rPr lang="fr-FR" dirty="0"/>
              <a:t> </a:t>
            </a:r>
            <a:r>
              <a:rPr lang="fr-FR" dirty="0" err="1"/>
              <a:t>prices</a:t>
            </a:r>
            <a:endParaRPr lang="fr-FR" dirty="0"/>
          </a:p>
          <a:p>
            <a:pPr lvl="1"/>
            <a:endParaRPr lang="fr-FR" dirty="0"/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68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338D3-066A-BAF9-C966-2FC96FAF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D65296-8CAD-C8E5-062A-E33E8A10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fr-FR" sz="3600"/>
              <a:t>Data and sample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09198D8-8D2F-93DE-5A7F-9C2A1273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dirty="0"/>
              <a:t>Sources from INSEE (commodity) and yahoo finance</a:t>
            </a:r>
          </a:p>
          <a:p>
            <a:endParaRPr lang="en-US" dirty="0"/>
          </a:p>
          <a:p>
            <a:r>
              <a:rPr lang="en-US" dirty="0"/>
              <a:t>Start in 2014 until end of 2025</a:t>
            </a:r>
          </a:p>
          <a:p>
            <a:endParaRPr lang="en-US" dirty="0"/>
          </a:p>
          <a:p>
            <a:r>
              <a:rPr lang="en-US" dirty="0"/>
              <a:t>Monthly data</a:t>
            </a:r>
          </a:p>
          <a:p>
            <a:endParaRPr lang="en-US" dirty="0"/>
          </a:p>
        </p:txBody>
      </p:sp>
      <p:pic>
        <p:nvPicPr>
          <p:cNvPr id="5" name="Espace réservé du contenu 4" descr="Une image contenant text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860FC3-ECEB-7F4A-5848-8D973BE81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0" r="-2" b="-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4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6E207B-F73A-D3E5-6C63-C6B76FE5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fr-FR" sz="3600"/>
              <a:t>correlations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92E6E9-DB23-C57B-CA51-0B055650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Tried to find a correlation between the stock price and lithium price</a:t>
            </a:r>
          </a:p>
          <a:p>
            <a:endParaRPr lang="en-US" dirty="0"/>
          </a:p>
          <a:p>
            <a:r>
              <a:rPr lang="en-US" dirty="0"/>
              <a:t>The higher was the present one (0,26) but I tried also a lag or a lead of 3 and 6 months </a:t>
            </a:r>
          </a:p>
          <a:p>
            <a:endParaRPr lang="en-US" dirty="0"/>
          </a:p>
          <a:p>
            <a:r>
              <a:rPr lang="en-US" dirty="0"/>
              <a:t>To see if it was explained by Expectations or past prices.</a:t>
            </a:r>
          </a:p>
        </p:txBody>
      </p:sp>
      <p:pic>
        <p:nvPicPr>
          <p:cNvPr id="4" name="Image 3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1070B4A3-2B61-D80F-A2D0-509BFB68C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582" y="1463429"/>
            <a:ext cx="7662687" cy="341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3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D8CB-CDB9-0D2C-D01F-AFCADF7A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5BF08-F32E-0070-E44C-BE9D0D82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6813B-2A4C-FABA-FCC7-AB100FF90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CAPM-</a:t>
            </a:r>
            <a:r>
              <a:rPr lang="fr-FR" dirty="0" err="1"/>
              <a:t>only</a:t>
            </a:r>
            <a:r>
              <a:rPr lang="fr-FR" dirty="0"/>
              <a:t> to </a:t>
            </a:r>
            <a:r>
              <a:rPr lang="fr-FR" dirty="0" err="1"/>
              <a:t>see</a:t>
            </a:r>
            <a:r>
              <a:rPr lang="fr-FR" dirty="0"/>
              <a:t> the R2 </a:t>
            </a:r>
            <a:r>
              <a:rPr lang="fr-FR" dirty="0" err="1"/>
              <a:t>with</a:t>
            </a:r>
            <a:r>
              <a:rPr lang="fr-FR" dirty="0"/>
              <a:t> the SP500 and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low</a:t>
            </a:r>
            <a:r>
              <a:rPr lang="fr-FR" dirty="0"/>
              <a:t> (11%) and </a:t>
            </a:r>
            <a:r>
              <a:rPr lang="fr-FR" dirty="0" err="1"/>
              <a:t>had</a:t>
            </a:r>
            <a:r>
              <a:rPr lang="fr-FR" dirty="0"/>
              <a:t> a </a:t>
            </a:r>
            <a:r>
              <a:rPr lang="fr-FR" dirty="0" err="1"/>
              <a:t>signifcant</a:t>
            </a:r>
            <a:r>
              <a:rPr lang="fr-FR" dirty="0"/>
              <a:t> Beta of 1,04</a:t>
            </a:r>
          </a:p>
          <a:p>
            <a:endParaRPr lang="fr-FR" dirty="0"/>
          </a:p>
          <a:p>
            <a:r>
              <a:rPr lang="fr-FR" dirty="0" err="1"/>
              <a:t>Then</a:t>
            </a:r>
            <a:r>
              <a:rPr lang="fr-FR" dirty="0"/>
              <a:t> 3 factor Model and i </a:t>
            </a:r>
            <a:r>
              <a:rPr lang="fr-FR" dirty="0" err="1"/>
              <a:t>reach</a:t>
            </a:r>
            <a:r>
              <a:rPr lang="fr-FR" dirty="0"/>
              <a:t> a R2 of 47%,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sense</a:t>
            </a:r>
            <a:r>
              <a:rPr lang="fr-FR" dirty="0"/>
              <a:t> if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consider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has 73% of </a:t>
            </a:r>
            <a:r>
              <a:rPr lang="fr-FR" dirty="0" err="1"/>
              <a:t>his</a:t>
            </a:r>
            <a:r>
              <a:rPr lang="fr-FR" dirty="0"/>
              <a:t> sales in lithium</a:t>
            </a:r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other</a:t>
            </a:r>
            <a:r>
              <a:rPr lang="fr-FR" dirty="0"/>
              <a:t> %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the </a:t>
            </a:r>
            <a:r>
              <a:rPr lang="fr-FR" dirty="0" err="1"/>
              <a:t>risks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being</a:t>
            </a:r>
            <a:r>
              <a:rPr lang="fr-FR" dirty="0"/>
              <a:t> part of a not-stable country like Chile…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793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0F657A-37B6-F613-99B0-DB2A072C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r>
              <a:rPr lang="fr-FR" dirty="0"/>
              <a:t>OLS ( 3 factor vs </a:t>
            </a:r>
            <a:r>
              <a:rPr lang="fr-FR"/>
              <a:t>2 factor)</a:t>
            </a:r>
            <a:endParaRPr lang="fr-F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14DBB5A-109E-C312-13B5-CD4377C62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/>
          </a:bodyPr>
          <a:lstStyle/>
          <a:p>
            <a:r>
              <a:rPr lang="en-US" dirty="0"/>
              <a:t>As you can see the best model was the 2 factor one , which explains +- half of the returns.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26C51EE-5786-5353-3E2C-6C008CB2B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4915"/>
            <a:ext cx="12192000" cy="272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3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B6BB8-BFDF-B9F9-69C8-A1192B0F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E8CC68-BD57-B828-AD86-225BE5A9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fr-FR" dirty="0" err="1"/>
              <a:t>Forecasts</a:t>
            </a:r>
            <a:r>
              <a:rPr lang="fr-FR" dirty="0"/>
              <a:t> (</a:t>
            </a:r>
            <a:r>
              <a:rPr lang="fr-FR" dirty="0" err="1"/>
              <a:t>montecarlo</a:t>
            </a:r>
            <a:r>
              <a:rPr lang="fr-FR" dirty="0"/>
              <a:t>)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Espace réservé du contenu 5" descr="Une image contenant diagramme, Tracé, texte, ligne">
            <a:extLst>
              <a:ext uri="{FF2B5EF4-FFF2-40B4-BE49-F238E27FC236}">
                <a16:creationId xmlns:a16="http://schemas.microsoft.com/office/drawing/2014/main" id="{8FC1A24B-C8EF-651D-D53F-82331B7D8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528" y="2094611"/>
            <a:ext cx="6361471" cy="4763390"/>
          </a:xfrm>
          <a:prstGeom prst="rect">
            <a:avLst/>
          </a:prstGeom>
        </p:spPr>
      </p:pic>
      <p:pic>
        <p:nvPicPr>
          <p:cNvPr id="8" name="Image 7" descr="Une image contenant diagramme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1300480A-8141-7290-35ED-614AF0E98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4610"/>
            <a:ext cx="5887518" cy="47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0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2ABF9-20A0-AE47-A402-BF7F37B4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DE728D-D06A-D6B0-5AB7-8E07ACE4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dirty="0"/>
              <a:t>Valuation </a:t>
            </a:r>
            <a:r>
              <a:rPr lang="fr-FR"/>
              <a:t>methods</a:t>
            </a:r>
            <a:r>
              <a:rPr lang="fr-FR" dirty="0"/>
              <a:t> ( DCF and </a:t>
            </a:r>
            <a:r>
              <a:rPr lang="fr-FR"/>
              <a:t>gordon-shapiro</a:t>
            </a:r>
            <a:r>
              <a:rPr lang="fr-FR" dirty="0"/>
              <a:t>)</a:t>
            </a:r>
            <a:endParaRPr lang="fr-FR"/>
          </a:p>
        </p:txBody>
      </p:sp>
      <p:pic>
        <p:nvPicPr>
          <p:cNvPr id="3076" name="Picture 4" descr="Chile | Culture, Facts &amp; Travel | - CountryReports">
            <a:extLst>
              <a:ext uri="{FF2B5EF4-FFF2-40B4-BE49-F238E27FC236}">
                <a16:creationId xmlns:a16="http://schemas.microsoft.com/office/drawing/2014/main" id="{80C99439-BA26-F235-7B64-7309CE698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3" r="30647" b="6"/>
          <a:stretch>
            <a:fillRect/>
          </a:stretch>
        </p:blipFill>
        <p:spPr bwMode="auto">
          <a:xfrm>
            <a:off x="20" y="-17929"/>
            <a:ext cx="420622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F83949-14DA-880E-5850-7492A13BC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compare </a:t>
            </a:r>
            <a:r>
              <a:rPr lang="fr-FR" dirty="0" err="1"/>
              <a:t>it</a:t>
            </a:r>
            <a:r>
              <a:rPr lang="fr-FR" dirty="0"/>
              <a:t> to the </a:t>
            </a:r>
            <a:r>
              <a:rPr lang="fr-FR" dirty="0" err="1"/>
              <a:t>intrinsic</a:t>
            </a:r>
            <a:r>
              <a:rPr lang="fr-FR" dirty="0"/>
              <a:t> value of the </a:t>
            </a:r>
            <a:r>
              <a:rPr lang="fr-FR" dirty="0" err="1"/>
              <a:t>company</a:t>
            </a:r>
            <a:r>
              <a:rPr lang="fr-FR" dirty="0"/>
              <a:t> </a:t>
            </a:r>
            <a:r>
              <a:rPr lang="fr-FR" dirty="0" err="1"/>
              <a:t>itself</a:t>
            </a:r>
            <a:r>
              <a:rPr lang="fr-FR" dirty="0"/>
              <a:t>.</a:t>
            </a:r>
          </a:p>
          <a:p>
            <a:pPr>
              <a:lnSpc>
                <a:spcPct val="100000"/>
              </a:lnSpc>
            </a:pPr>
            <a:endParaRPr lang="fr-FR" dirty="0"/>
          </a:p>
          <a:p>
            <a:pPr>
              <a:lnSpc>
                <a:spcPct val="100000"/>
              </a:lnSpc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assumed</a:t>
            </a:r>
            <a:r>
              <a:rPr lang="fr-FR" dirty="0"/>
              <a:t> a RF= 4% (Chilean bonds)</a:t>
            </a:r>
          </a:p>
          <a:p>
            <a:pPr>
              <a:lnSpc>
                <a:spcPct val="100000"/>
              </a:lnSpc>
            </a:pPr>
            <a:endParaRPr lang="fr-FR" dirty="0"/>
          </a:p>
          <a:p>
            <a:pPr>
              <a:lnSpc>
                <a:spcPct val="100000"/>
              </a:lnSpc>
            </a:pPr>
            <a:r>
              <a:rPr lang="fr-FR" dirty="0"/>
              <a:t>G=2% (Chilean %</a:t>
            </a:r>
            <a:r>
              <a:rPr lang="fr-FR" dirty="0" err="1"/>
              <a:t>growth</a:t>
            </a:r>
            <a:r>
              <a:rPr lang="fr-FR" dirty="0"/>
              <a:t> PIB)</a:t>
            </a:r>
          </a:p>
          <a:p>
            <a:pPr>
              <a:lnSpc>
                <a:spcPct val="100000"/>
              </a:lnSpc>
            </a:pPr>
            <a:endParaRPr lang="fr-FR" dirty="0"/>
          </a:p>
          <a:p>
            <a:pPr>
              <a:lnSpc>
                <a:spcPct val="100000"/>
              </a:lnSpc>
            </a:pPr>
            <a:r>
              <a:rPr lang="fr-FR" dirty="0"/>
              <a:t>I </a:t>
            </a:r>
            <a:r>
              <a:rPr lang="fr-FR" dirty="0" err="1"/>
              <a:t>used</a:t>
            </a:r>
            <a:r>
              <a:rPr lang="fr-FR" dirty="0"/>
              <a:t> an </a:t>
            </a:r>
            <a:r>
              <a:rPr lang="fr-FR" dirty="0" err="1"/>
              <a:t>estimate</a:t>
            </a:r>
            <a:r>
              <a:rPr lang="fr-FR" dirty="0"/>
              <a:t> (</a:t>
            </a:r>
            <a:r>
              <a:rPr lang="fr-FR" dirty="0" err="1"/>
              <a:t>factset</a:t>
            </a:r>
            <a:r>
              <a:rPr lang="fr-FR" dirty="0"/>
              <a:t>) of the FCFF </a:t>
            </a:r>
            <a:r>
              <a:rPr lang="fr-FR" dirty="0" err="1"/>
              <a:t>from</a:t>
            </a:r>
            <a:r>
              <a:rPr lang="fr-FR" dirty="0"/>
              <a:t> 2025 , </a:t>
            </a:r>
            <a:r>
              <a:rPr lang="fr-FR" dirty="0" err="1"/>
              <a:t>because</a:t>
            </a:r>
            <a:r>
              <a:rPr lang="fr-FR" dirty="0"/>
              <a:t> the </a:t>
            </a:r>
            <a:r>
              <a:rPr lang="fr-FR" dirty="0" err="1"/>
              <a:t>numbers</a:t>
            </a:r>
            <a:r>
              <a:rPr lang="fr-FR" dirty="0"/>
              <a:t> </a:t>
            </a:r>
            <a:r>
              <a:rPr lang="fr-FR" dirty="0" err="1"/>
              <a:t>hasnt</a:t>
            </a:r>
            <a:r>
              <a:rPr lang="fr-FR" dirty="0"/>
              <a:t> come out </a:t>
            </a:r>
            <a:r>
              <a:rPr lang="fr-FR" dirty="0" err="1"/>
              <a:t>yet</a:t>
            </a:r>
            <a:endParaRPr lang="fr-FR" dirty="0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49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3C86A-D8C4-88BF-2CEF-D0B8E44E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76D3CA-0545-EF33-2F00-3C8844A7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fr-FR" sz="3600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741EC4-4012-4473-B504-168C3994C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It has potential in the long term , specially if the lithium prices keep climbing or stable</a:t>
            </a:r>
          </a:p>
          <a:p>
            <a:endParaRPr lang="en-US" dirty="0"/>
          </a:p>
          <a:p>
            <a:r>
              <a:rPr lang="en-US" dirty="0"/>
              <a:t>They are biased , because the dividends are low (DDM), and the </a:t>
            </a:r>
            <a:r>
              <a:rPr lang="en-US" dirty="0" err="1"/>
              <a:t>wacc</a:t>
            </a:r>
            <a:r>
              <a:rPr lang="en-US" dirty="0"/>
              <a:t> with the EV/SALES are this year higher than average</a:t>
            </a: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21E8155-B3A5-D979-E8BC-1949804B1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533" y="1160207"/>
            <a:ext cx="7637467" cy="56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6212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375</Words>
  <Application>Microsoft Office PowerPoint</Application>
  <PresentationFormat>Grand écran</PresentationFormat>
  <Paragraphs>52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Soquimich (SQM) – Empirical Finance &amp; Valuation</vt:lpstr>
      <vt:lpstr>Enterprise</vt:lpstr>
      <vt:lpstr>Objective of the research</vt:lpstr>
      <vt:lpstr>Data and sample</vt:lpstr>
      <vt:lpstr>correlations</vt:lpstr>
      <vt:lpstr>models</vt:lpstr>
      <vt:lpstr>OLS ( 3 factor vs 2 factor)</vt:lpstr>
      <vt:lpstr>Forecasts (montecarlo) </vt:lpstr>
      <vt:lpstr>Valuation methods ( DCF and gordon-shapiro)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 touret</dc:creator>
  <cp:lastModifiedBy>yann touret</cp:lastModifiedBy>
  <cp:revision>8</cp:revision>
  <dcterms:created xsi:type="dcterms:W3CDTF">2026-02-13T05:24:55Z</dcterms:created>
  <dcterms:modified xsi:type="dcterms:W3CDTF">2026-02-21T03:36:50Z</dcterms:modified>
</cp:coreProperties>
</file>